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1" r:id="rId12"/>
    <p:sldId id="342" r:id="rId13"/>
    <p:sldId id="343" r:id="rId14"/>
    <p:sldId id="344" r:id="rId15"/>
    <p:sldId id="345" r:id="rId16"/>
    <p:sldId id="346" r:id="rId17"/>
    <p:sldId id="347"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84DC2E-16DA-4249-86F9-FBF249956918}" v="297" dt="2026-09-06T07:20:08.53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92720" y="4322522"/>
            <a:ext cx="6806676" cy="883909"/>
          </a:xfrm>
        </p:spPr>
        <p:txBody>
          <a:bodyPr vert="horz" lIns="91440" tIns="45720" rIns="91440" bIns="45720" rtlCol="0" anchor="t">
            <a:normAutofit/>
          </a:bodyPr>
          <a:lstStyle/>
          <a:p>
            <a:r>
              <a:rPr lang="en-US" dirty="0">
                <a:solidFill>
                  <a:schemeClr val="tx1"/>
                </a:solidFill>
              </a:rPr>
              <a:t>Student Name</a:t>
            </a:r>
            <a:r>
              <a:rPr lang="en-US" b="0" dirty="0">
                <a:solidFill>
                  <a:schemeClr val="tx1"/>
                </a:solidFill>
              </a:rPr>
              <a:t>: MOHAMMED ASHWAQ</a:t>
            </a:r>
            <a:endParaRPr lang="en-IN" b="0" dirty="0">
              <a:solidFill>
                <a:schemeClr val="tx1"/>
              </a:solidFill>
            </a:endParaRPr>
          </a:p>
          <a:p>
            <a:r>
              <a:rPr lang="en-IN" dirty="0">
                <a:solidFill>
                  <a:schemeClr val="tx1"/>
                </a:solidFill>
              </a:rPr>
              <a:t>College name</a:t>
            </a:r>
            <a:r>
              <a:rPr lang="en-IN" b="0" dirty="0">
                <a:solidFill>
                  <a:schemeClr val="tx1"/>
                </a:solidFill>
              </a:rPr>
              <a:t>: sree chaitanya college of engineering</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96097" y="2807641"/>
            <a:ext cx="9221035" cy="837392"/>
          </a:xfrm>
        </p:spPr>
        <p:txBody>
          <a:bodyPr>
            <a:noAutofit/>
          </a:bodyPr>
          <a:lstStyle/>
          <a:p>
            <a:r>
              <a:rPr lang="en-GB" sz="2400" b="1" dirty="0">
                <a:ea typeface="+mn-lt"/>
                <a:cs typeface="+mn-lt"/>
              </a:rPr>
              <a:t>SEASONAL AGRICULTURE PERFORMANCE ANALYSIS</a:t>
            </a:r>
            <a:endParaRPr lang="en-US" sz="2400" b="1">
              <a:ea typeface="+mn-lt"/>
              <a:cs typeface="+mn-lt"/>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92720" y="3952376"/>
            <a:ext cx="6414861" cy="369332"/>
          </a:xfrm>
          <a:prstGeom prst="rect">
            <a:avLst/>
          </a:prstGeom>
          <a:noFill/>
        </p:spPr>
        <p:txBody>
          <a:bodyPr wrap="square" lIns="91440" tIns="45720" rIns="91440" bIns="45720" rtlCol="0" anchor="t">
            <a:spAutoFit/>
          </a:bodyPr>
          <a:lstStyle/>
          <a:p>
            <a:r>
              <a:rPr lang="en-US" b="1" dirty="0"/>
              <a:t>AICTE STU ID : </a:t>
            </a:r>
            <a:r>
              <a:rPr lang="en-US">
                <a:ea typeface="+mn-lt"/>
                <a:cs typeface="+mn-lt"/>
              </a:rPr>
              <a:t>STU6a68ea3ba40ec1785260603</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41056" y="1123995"/>
            <a:ext cx="7965717" cy="5361630"/>
          </a:xfrm>
        </p:spPr>
        <p:txBody>
          <a:bodyPr vert="horz" lIns="91440" tIns="45720" rIns="91440" bIns="45720" rtlCol="0" anchor="t">
            <a:noAutofit/>
          </a:bodyPr>
          <a:lstStyle/>
          <a:p>
            <a:r>
              <a:rPr lang="en-IN" dirty="0">
                <a:latin typeface="Aptos Display"/>
                <a:ea typeface="+mn-lt"/>
                <a:cs typeface="+mn-lt"/>
              </a:rPr>
              <a:t>Agricultural activities are influenced by seasonal variations in:</a:t>
            </a:r>
            <a:endParaRPr lang="en-IN">
              <a:latin typeface="Aptos Display"/>
            </a:endParaRPr>
          </a:p>
          <a:p>
            <a:r>
              <a:rPr lang="en-IN" dirty="0">
                <a:latin typeface="Aptos Display"/>
                <a:ea typeface="+mn-lt"/>
                <a:cs typeface="+mn-lt"/>
              </a:rPr>
              <a:t>Environmental conditions </a:t>
            </a:r>
            <a:endParaRPr lang="en-IN">
              <a:latin typeface="Aptos Display"/>
            </a:endParaRPr>
          </a:p>
          <a:p>
            <a:r>
              <a:rPr lang="en-IN" dirty="0">
                <a:latin typeface="Aptos Display"/>
                <a:ea typeface="+mn-lt"/>
                <a:cs typeface="+mn-lt"/>
              </a:rPr>
              <a:t>Farming practices </a:t>
            </a:r>
            <a:endParaRPr lang="en-IN">
              <a:latin typeface="Aptos Display"/>
            </a:endParaRPr>
          </a:p>
          <a:p>
            <a:r>
              <a:rPr lang="en-IN" dirty="0">
                <a:latin typeface="Aptos Display"/>
                <a:ea typeface="+mn-lt"/>
                <a:cs typeface="+mn-lt"/>
              </a:rPr>
              <a:t>Resource availability </a:t>
            </a:r>
            <a:endParaRPr lang="en-IN">
              <a:latin typeface="Aptos Display"/>
            </a:endParaRPr>
          </a:p>
          <a:p>
            <a:r>
              <a:rPr lang="en-IN" dirty="0">
                <a:latin typeface="Aptos Display"/>
                <a:ea typeface="+mn-lt"/>
                <a:cs typeface="+mn-lt"/>
              </a:rPr>
              <a:t>Irrigation methods </a:t>
            </a:r>
            <a:endParaRPr lang="en-IN">
              <a:latin typeface="Aptos Display"/>
            </a:endParaRPr>
          </a:p>
          <a:p>
            <a:r>
              <a:rPr lang="en-IN" dirty="0">
                <a:latin typeface="Aptos Display"/>
                <a:ea typeface="+mn-lt"/>
                <a:cs typeface="+mn-lt"/>
              </a:rPr>
              <a:t>Crop characteristics </a:t>
            </a:r>
            <a:endParaRPr lang="en-IN">
              <a:latin typeface="Aptos Display"/>
            </a:endParaRPr>
          </a:p>
          <a:p>
            <a:r>
              <a:rPr lang="en-IN" dirty="0">
                <a:latin typeface="Aptos Display"/>
                <a:ea typeface="+mn-lt"/>
                <a:cs typeface="+mn-lt"/>
              </a:rPr>
              <a:t>Market conditions </a:t>
            </a:r>
            <a:endParaRPr lang="en-IN">
              <a:latin typeface="Aptos Display"/>
            </a:endParaRPr>
          </a:p>
          <a:p>
            <a:r>
              <a:rPr lang="en-IN" dirty="0">
                <a:latin typeface="Aptos Display"/>
                <a:ea typeface="+mn-lt"/>
                <a:cs typeface="+mn-lt"/>
              </a:rPr>
              <a:t>As a result, agricultural performance may differ from one season to another.</a:t>
            </a:r>
            <a:endParaRPr lang="en-IN">
              <a:latin typeface="Aptos Display"/>
            </a:endParaRPr>
          </a:p>
          <a:p>
            <a:r>
              <a:rPr lang="en-IN" dirty="0">
                <a:latin typeface="Aptos Display"/>
                <a:ea typeface="+mn-lt"/>
                <a:cs typeface="+mn-lt"/>
              </a:rPr>
              <a:t>The raw agricultural data does not clearly explain how agricultural performance changes across seasons or what important patterns can be observed.</a:t>
            </a:r>
            <a:endParaRPr lang="en-IN">
              <a:latin typeface="Aptos Display"/>
            </a:endParaRPr>
          </a:p>
          <a:p>
            <a:endParaRPr lang="en-IN" dirty="0">
              <a:latin typeface="Aptos Display"/>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316191" y="185075"/>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9436177" y="3431875"/>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47248" y="178912"/>
            <a:ext cx="6276109" cy="662909"/>
          </a:xfrm>
        </p:spPr>
        <p:txBody>
          <a:bodyPr>
            <a:normAutofit fontScale="90000"/>
          </a:bodyPr>
          <a:lstStyle/>
          <a:p>
            <a:r>
              <a:rPr lang="en-GB" sz="4000" dirty="0"/>
              <a:t>Project Description</a:t>
            </a:r>
            <a:br>
              <a:rPr lang="en-GB" dirty="0"/>
            </a:br>
            <a:endParaRPr lang="en-GB"/>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8E14276A-5A47-0E24-184F-F4DE70E41733}"/>
              </a:ext>
            </a:extLst>
          </p:cNvPr>
          <p:cNvSpPr txBox="1"/>
          <p:nvPr/>
        </p:nvSpPr>
        <p:spPr>
          <a:xfrm>
            <a:off x="469727" y="1017741"/>
            <a:ext cx="10876765"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buFont typeface="Arial"/>
              <a:buChar char="•"/>
            </a:pPr>
            <a:r>
              <a:rPr lang="en-US" dirty="0">
                <a:latin typeface="Aptos Display"/>
                <a:ea typeface="+mn-lt"/>
                <a:cs typeface="+mn-lt"/>
              </a:rPr>
              <a:t>The </a:t>
            </a:r>
            <a:r>
              <a:rPr lang="en-US" b="1" dirty="0">
                <a:latin typeface="Aptos Display"/>
                <a:ea typeface="+mn-lt"/>
                <a:cs typeface="+mn-lt"/>
              </a:rPr>
              <a:t>Seasonal Agriculture Performance Analysis</a:t>
            </a:r>
            <a:r>
              <a:rPr lang="en-US" dirty="0">
                <a:latin typeface="Aptos Display"/>
                <a:ea typeface="+mn-lt"/>
                <a:cs typeface="+mn-lt"/>
              </a:rPr>
              <a:t> project analyzes agricultural activities across different seasons, geographical areas and farming conditions.</a:t>
            </a:r>
          </a:p>
          <a:p>
            <a:pPr algn="just">
              <a:buFont typeface="Arial"/>
              <a:buChar char="•"/>
            </a:pPr>
            <a:r>
              <a:rPr lang="en-US" dirty="0">
                <a:latin typeface="Aptos Display"/>
                <a:ea typeface="+mn-lt"/>
                <a:cs typeface="+mn-lt"/>
              </a:rPr>
              <a:t>The dataset contains information about:</a:t>
            </a:r>
            <a:endParaRPr lang="en-US">
              <a:latin typeface="Aptos Display"/>
            </a:endParaRPr>
          </a:p>
          <a:p>
            <a:pPr algn="just">
              <a:buFont typeface="Arial"/>
              <a:buChar char="•"/>
            </a:pPr>
            <a:r>
              <a:rPr lang="en-US" dirty="0">
                <a:latin typeface="Aptos Display"/>
                <a:ea typeface="+mn-lt"/>
                <a:cs typeface="+mn-lt"/>
              </a:rPr>
              <a:t>Farm characteristics </a:t>
            </a:r>
            <a:endParaRPr lang="en-US">
              <a:latin typeface="Aptos Display"/>
            </a:endParaRPr>
          </a:p>
          <a:p>
            <a:pPr algn="just">
              <a:buFont typeface="Arial"/>
              <a:buChar char="•"/>
            </a:pPr>
            <a:r>
              <a:rPr lang="en-US" dirty="0">
                <a:latin typeface="Aptos Display"/>
                <a:ea typeface="+mn-lt"/>
                <a:cs typeface="+mn-lt"/>
              </a:rPr>
              <a:t>Crop types </a:t>
            </a:r>
            <a:endParaRPr lang="en-US">
              <a:latin typeface="Aptos Display"/>
            </a:endParaRPr>
          </a:p>
          <a:p>
            <a:pPr algn="just">
              <a:buFont typeface="Arial"/>
              <a:buChar char="•"/>
            </a:pPr>
            <a:r>
              <a:rPr lang="en-US" dirty="0">
                <a:latin typeface="Aptos Display"/>
                <a:ea typeface="+mn-lt"/>
                <a:cs typeface="+mn-lt"/>
              </a:rPr>
              <a:t>Seasons </a:t>
            </a:r>
            <a:endParaRPr lang="en-US">
              <a:latin typeface="Aptos Display"/>
            </a:endParaRPr>
          </a:p>
          <a:p>
            <a:pPr algn="just">
              <a:buFont typeface="Arial"/>
              <a:buChar char="•"/>
            </a:pPr>
            <a:r>
              <a:rPr lang="en-US" dirty="0">
                <a:latin typeface="Aptos Display"/>
                <a:ea typeface="+mn-lt"/>
                <a:cs typeface="+mn-lt"/>
              </a:rPr>
              <a:t>Environmental conditions </a:t>
            </a:r>
            <a:endParaRPr lang="en-US">
              <a:latin typeface="Aptos Display"/>
            </a:endParaRPr>
          </a:p>
          <a:p>
            <a:pPr algn="just">
              <a:buFont typeface="Arial"/>
              <a:buChar char="•"/>
            </a:pPr>
            <a:r>
              <a:rPr lang="en-US" dirty="0">
                <a:latin typeface="Aptos Display"/>
                <a:ea typeface="+mn-lt"/>
                <a:cs typeface="+mn-lt"/>
              </a:rPr>
              <a:t>Soil conditions </a:t>
            </a:r>
            <a:endParaRPr lang="en-US">
              <a:latin typeface="Aptos Display"/>
            </a:endParaRPr>
          </a:p>
          <a:p>
            <a:pPr algn="just">
              <a:buFont typeface="Arial"/>
              <a:buChar char="•"/>
            </a:pPr>
            <a:r>
              <a:rPr lang="en-US" dirty="0">
                <a:latin typeface="Aptos Display"/>
                <a:ea typeface="+mn-lt"/>
                <a:cs typeface="+mn-lt"/>
              </a:rPr>
              <a:t>Fertilizer and pesticide usage </a:t>
            </a:r>
            <a:endParaRPr lang="en-US">
              <a:latin typeface="Aptos Display"/>
            </a:endParaRPr>
          </a:p>
          <a:p>
            <a:pPr algn="just">
              <a:buFont typeface="Arial"/>
              <a:buChar char="•"/>
            </a:pPr>
            <a:r>
              <a:rPr lang="en-US" dirty="0">
                <a:latin typeface="Aptos Display"/>
                <a:ea typeface="+mn-lt"/>
                <a:cs typeface="+mn-lt"/>
              </a:rPr>
              <a:t>Irrigation methods </a:t>
            </a:r>
            <a:endParaRPr lang="en-US">
              <a:latin typeface="Aptos Display"/>
            </a:endParaRPr>
          </a:p>
          <a:p>
            <a:pPr algn="just">
              <a:buFont typeface="Arial"/>
              <a:buChar char="•"/>
            </a:pPr>
            <a:r>
              <a:rPr lang="en-US" dirty="0">
                <a:latin typeface="Aptos Display"/>
                <a:ea typeface="+mn-lt"/>
                <a:cs typeface="+mn-lt"/>
              </a:rPr>
              <a:t>Crop yield </a:t>
            </a:r>
            <a:endParaRPr lang="en-US">
              <a:latin typeface="Aptos Display"/>
            </a:endParaRPr>
          </a:p>
          <a:p>
            <a:pPr algn="just">
              <a:buFont typeface="Arial"/>
              <a:buChar char="•"/>
            </a:pPr>
            <a:r>
              <a:rPr lang="en-US" dirty="0">
                <a:latin typeface="Aptos Display"/>
                <a:ea typeface="+mn-lt"/>
                <a:cs typeface="+mn-lt"/>
              </a:rPr>
              <a:t>Production </a:t>
            </a:r>
            <a:endParaRPr lang="en-US">
              <a:latin typeface="Aptos Display"/>
            </a:endParaRPr>
          </a:p>
          <a:p>
            <a:pPr algn="just">
              <a:buFont typeface="Arial"/>
              <a:buChar char="•"/>
            </a:pPr>
            <a:r>
              <a:rPr lang="en-US" dirty="0">
                <a:latin typeface="Aptos Display"/>
                <a:ea typeface="+mn-lt"/>
                <a:cs typeface="+mn-lt"/>
              </a:rPr>
              <a:t>Revenue </a:t>
            </a:r>
            <a:endParaRPr lang="en-US">
              <a:latin typeface="Aptos Display"/>
            </a:endParaRPr>
          </a:p>
          <a:p>
            <a:pPr algn="just">
              <a:buFont typeface="Arial"/>
              <a:buChar char="•"/>
            </a:pPr>
            <a:r>
              <a:rPr lang="en-US" dirty="0">
                <a:latin typeface="Aptos Display"/>
                <a:ea typeface="+mn-lt"/>
                <a:cs typeface="+mn-lt"/>
              </a:rPr>
              <a:t>Cost </a:t>
            </a:r>
            <a:endParaRPr lang="en-US">
              <a:latin typeface="Aptos Display"/>
            </a:endParaRPr>
          </a:p>
          <a:p>
            <a:pPr algn="just">
              <a:buFont typeface="Arial"/>
              <a:buChar char="•"/>
            </a:pPr>
            <a:r>
              <a:rPr lang="en-US" dirty="0">
                <a:latin typeface="Aptos Display"/>
                <a:ea typeface="+mn-lt"/>
                <a:cs typeface="+mn-lt"/>
              </a:rPr>
              <a:t>Profit </a:t>
            </a:r>
            <a:endParaRPr lang="en-US">
              <a:latin typeface="Aptos Display"/>
            </a:endParaRPr>
          </a:p>
          <a:p>
            <a:pPr algn="just">
              <a:buFont typeface="Arial"/>
              <a:buChar char="•"/>
            </a:pPr>
            <a:r>
              <a:rPr lang="en-US" dirty="0">
                <a:latin typeface="Aptos Display"/>
                <a:ea typeface="+mn-lt"/>
                <a:cs typeface="+mn-lt"/>
              </a:rPr>
              <a:t>Water usage </a:t>
            </a:r>
            <a:endParaRPr lang="en-US">
              <a:latin typeface="Aptos Display"/>
            </a:endParaRPr>
          </a:p>
          <a:p>
            <a:pPr algn="just">
              <a:buFont typeface="Arial"/>
              <a:buChar char="•"/>
            </a:pPr>
            <a:r>
              <a:rPr lang="en-US" dirty="0">
                <a:latin typeface="Aptos Display"/>
                <a:ea typeface="+mn-lt"/>
                <a:cs typeface="+mn-lt"/>
              </a:rPr>
              <a:t>Water-use efficiency </a:t>
            </a:r>
            <a:endParaRPr lang="en-US">
              <a:latin typeface="Aptos Display"/>
            </a:endParaRPr>
          </a:p>
          <a:p>
            <a:pPr algn="just">
              <a:buFont typeface="Arial"/>
              <a:buChar char="•"/>
            </a:pPr>
            <a:r>
              <a:rPr lang="en-US" dirty="0">
                <a:latin typeface="Aptos Display"/>
                <a:ea typeface="+mn-lt"/>
                <a:cs typeface="+mn-lt"/>
              </a:rPr>
              <a:t>Disease and pest risk</a:t>
            </a:r>
            <a:endParaRPr lang="en-US">
              <a:latin typeface="Aptos Display"/>
            </a:endParaRPr>
          </a:p>
          <a:p>
            <a:pPr marL="285750" indent="-285750" algn="just">
              <a:buFont typeface="Arial"/>
              <a:buChar char="•"/>
            </a:pPr>
            <a:endParaRPr lang="en-US" dirty="0">
              <a:latin typeface="Aptos Display"/>
            </a:endParaRPr>
          </a:p>
          <a:p>
            <a:pPr algn="ctr"/>
            <a:endParaRPr lang="en-US"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241195" y="1051908"/>
            <a:ext cx="11249974" cy="5601367"/>
          </a:xfrm>
        </p:spPr>
        <p:txBody>
          <a:bodyPr vert="horz" lIns="91440" tIns="45720" rIns="91440" bIns="45720" rtlCol="0" anchor="t">
            <a:noAutofit/>
          </a:bodyPr>
          <a:lstStyle/>
          <a:p>
            <a:pPr algn="just"/>
            <a:r>
              <a:rPr lang="en-IN" dirty="0">
                <a:latin typeface="Aptos Display"/>
              </a:rPr>
              <a:t>🌾 Farmers</a:t>
            </a:r>
            <a:endParaRPr lang="en-IN" sz="1600" dirty="0">
              <a:latin typeface="Aptos Display"/>
            </a:endParaRPr>
          </a:p>
          <a:p>
            <a:pPr algn="just"/>
            <a:r>
              <a:rPr lang="en-IN" sz="1600" dirty="0">
                <a:latin typeface="Aptos Display"/>
                <a:ea typeface="+mn-lt"/>
                <a:cs typeface="+mn-lt"/>
              </a:rPr>
              <a:t>Can understand seasonal crop performance, yield differences and resource efficiency.</a:t>
            </a:r>
            <a:endParaRPr lang="en-IN" dirty="0">
              <a:latin typeface="Aptos Display"/>
            </a:endParaRPr>
          </a:p>
          <a:p>
            <a:pPr algn="just"/>
            <a:r>
              <a:rPr lang="en-IN" dirty="0">
                <a:latin typeface="Aptos Display"/>
              </a:rPr>
              <a:t>🏢 Agricultural Planners</a:t>
            </a:r>
          </a:p>
          <a:p>
            <a:pPr algn="just"/>
            <a:r>
              <a:rPr lang="en-IN" sz="1600" dirty="0">
                <a:latin typeface="Aptos Display"/>
                <a:ea typeface="+mn-lt"/>
                <a:cs typeface="+mn-lt"/>
              </a:rPr>
              <a:t>Can use seasonal trends to support agricultural planning and resource allocation.</a:t>
            </a:r>
            <a:endParaRPr lang="en-IN" dirty="0">
              <a:latin typeface="Aptos Display"/>
            </a:endParaRPr>
          </a:p>
          <a:p>
            <a:pPr algn="just"/>
            <a:r>
              <a:rPr lang="en-IN" dirty="0">
                <a:latin typeface="Aptos Display"/>
              </a:rPr>
              <a:t>👨‍🔬 Agricultural Researchers</a:t>
            </a:r>
          </a:p>
          <a:p>
            <a:pPr algn="just"/>
            <a:r>
              <a:rPr lang="en-IN" sz="1600" dirty="0">
                <a:latin typeface="Aptos Display"/>
                <a:ea typeface="+mn-lt"/>
                <a:cs typeface="+mn-lt"/>
              </a:rPr>
              <a:t>Can investigate relationships between environmental conditions, farming practices and agricultural outcomes.</a:t>
            </a:r>
            <a:endParaRPr lang="en-IN" dirty="0">
              <a:latin typeface="Aptos Display"/>
            </a:endParaRPr>
          </a:p>
          <a:p>
            <a:pPr algn="just"/>
            <a:r>
              <a:rPr lang="en-IN" dirty="0">
                <a:latin typeface="Aptos Display"/>
              </a:rPr>
              <a:t>💧 Resource Management Teams</a:t>
            </a:r>
          </a:p>
          <a:p>
            <a:pPr algn="just"/>
            <a:r>
              <a:rPr lang="en-IN" sz="1600" dirty="0">
                <a:latin typeface="Aptos Display"/>
                <a:ea typeface="+mn-lt"/>
                <a:cs typeface="+mn-lt"/>
              </a:rPr>
              <a:t>Can </a:t>
            </a:r>
            <a:r>
              <a:rPr lang="en-IN" sz="1600" dirty="0" err="1">
                <a:latin typeface="Aptos Display"/>
                <a:ea typeface="+mn-lt"/>
                <a:cs typeface="+mn-lt"/>
              </a:rPr>
              <a:t>analyze</a:t>
            </a:r>
            <a:r>
              <a:rPr lang="en-IN" sz="1600" dirty="0">
                <a:latin typeface="Aptos Display"/>
                <a:ea typeface="+mn-lt"/>
                <a:cs typeface="+mn-lt"/>
              </a:rPr>
              <a:t> irrigation and water-use efficiency.</a:t>
            </a:r>
            <a:endParaRPr lang="en-IN" dirty="0">
              <a:latin typeface="Aptos Display"/>
            </a:endParaRPr>
          </a:p>
          <a:p>
            <a:pPr algn="just"/>
            <a:r>
              <a:rPr lang="en-IN" dirty="0">
                <a:latin typeface="Aptos Display"/>
              </a:rPr>
              <a:t>💰 Agricultural &amp; Market Analysts</a:t>
            </a:r>
          </a:p>
          <a:p>
            <a:pPr algn="just"/>
            <a:r>
              <a:rPr lang="en-IN" sz="1600" dirty="0">
                <a:latin typeface="Aptos Display"/>
                <a:ea typeface="+mn-lt"/>
                <a:cs typeface="+mn-lt"/>
              </a:rPr>
              <a:t>Can examine revenue, costs and profitability across seasons and crops.</a:t>
            </a:r>
            <a:endParaRPr lang="en-IN" dirty="0">
              <a:latin typeface="Aptos Display"/>
            </a:endParaRPr>
          </a:p>
          <a:p>
            <a:pPr algn="just"/>
            <a:r>
              <a:rPr lang="en-IN" dirty="0">
                <a:latin typeface="Aptos Display"/>
              </a:rPr>
              <a:t>🏛️ Government &amp; Agricultural Organizations</a:t>
            </a:r>
          </a:p>
          <a:p>
            <a:pPr algn="just"/>
            <a:r>
              <a:rPr lang="en-IN" sz="1600" dirty="0">
                <a:latin typeface="Aptos Display"/>
                <a:ea typeface="+mn-lt"/>
                <a:cs typeface="+mn-lt"/>
              </a:rPr>
              <a:t>Can use data-driven findings to support evidence-based agricultural policies and planning.</a:t>
            </a:r>
            <a:endParaRPr lang="en-IN" dirty="0">
              <a:latin typeface="Aptos Display"/>
            </a:endParaRPr>
          </a:p>
          <a:p>
            <a:pPr algn="just"/>
            <a:endParaRPr lang="en-IN" sz="1600" dirty="0">
              <a:latin typeface="Aptos Display"/>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244227" y="250316"/>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0" end="10"/>
                                            </p:txEl>
                                          </p:spTgt>
                                        </p:tgtEl>
                                        <p:attrNameLst>
                                          <p:attrName>style.visibility</p:attrName>
                                        </p:attrNameLst>
                                      </p:cBhvr>
                                      <p:to>
                                        <p:strVal val="visible"/>
                                      </p:to>
                                    </p:set>
                                    <p:animEffect transition="in" filter="fade">
                                      <p:cBhvr>
                                        <p:cTn id="84" dur="1000"/>
                                        <p:tgtEl>
                                          <p:spTgt spid="2">
                                            <p:txEl>
                                              <p:pRg st="10" end="10"/>
                                            </p:txEl>
                                          </p:spTgt>
                                        </p:tgtEl>
                                      </p:cBhvr>
                                    </p:animEffect>
                                    <p:anim calcmode="lin" valueType="num">
                                      <p:cBhvr>
                                        <p:cTn id="8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1000"/>
                                        <p:tgtEl>
                                          <p:spTgt spid="2">
                                            <p:txEl>
                                              <p:pRg st="11" end="11"/>
                                            </p:txEl>
                                          </p:spTgt>
                                        </p:tgtEl>
                                      </p:cBhvr>
                                    </p:animEffect>
                                    <p:anim calcmode="lin" valueType="num">
                                      <p:cBhvr>
                                        <p:cTn id="9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10468279" y="3851475"/>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389002" y="232238"/>
            <a:ext cx="5306291" cy="847817"/>
          </a:xfrm>
        </p:spPr>
        <p:txBody>
          <a:bodyPr>
            <a:normAutofit/>
          </a:bodyPr>
          <a:lstStyle/>
          <a:p>
            <a:r>
              <a:rPr lang="en-US" dirty="0"/>
              <a:t>Technology Used</a:t>
            </a:r>
          </a:p>
        </p:txBody>
      </p:sp>
      <p:sp>
        <p:nvSpPr>
          <p:cNvPr id="3" name="TextBox 2">
            <a:extLst>
              <a:ext uri="{FF2B5EF4-FFF2-40B4-BE49-F238E27FC236}">
                <a16:creationId xmlns:a16="http://schemas.microsoft.com/office/drawing/2014/main" id="{6F638472-4E83-B32A-C2B6-DE658DB1BF60}"/>
              </a:ext>
            </a:extLst>
          </p:cNvPr>
          <p:cNvSpPr txBox="1"/>
          <p:nvPr/>
        </p:nvSpPr>
        <p:spPr>
          <a:xfrm>
            <a:off x="647178" y="1080370"/>
            <a:ext cx="6096000"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ptos Display"/>
              </a:rPr>
              <a:t>Programming Language</a:t>
            </a:r>
          </a:p>
          <a:p>
            <a:pPr>
              <a:buFont typeface=""/>
              <a:buChar char="•"/>
            </a:pPr>
            <a:r>
              <a:rPr lang="en-US">
                <a:latin typeface="Aptos Display"/>
              </a:rPr>
              <a:t>Python </a:t>
            </a:r>
          </a:p>
          <a:p>
            <a:endParaRPr lang="en-US" dirty="0">
              <a:latin typeface="Aptos Display"/>
            </a:endParaRPr>
          </a:p>
          <a:p>
            <a:r>
              <a:rPr lang="en-US" b="1">
                <a:latin typeface="Aptos Display"/>
              </a:rPr>
              <a:t>Libraries</a:t>
            </a:r>
          </a:p>
          <a:p>
            <a:pPr>
              <a:buFont typeface=""/>
              <a:buChar char="•"/>
            </a:pPr>
            <a:r>
              <a:rPr lang="en-US">
                <a:latin typeface="Aptos Display"/>
              </a:rPr>
              <a:t>Pandas </a:t>
            </a:r>
          </a:p>
          <a:p>
            <a:pPr>
              <a:buFont typeface=""/>
              <a:buChar char="•"/>
            </a:pPr>
            <a:r>
              <a:rPr lang="en-US">
                <a:latin typeface="Aptos Display"/>
              </a:rPr>
              <a:t>NumPy </a:t>
            </a:r>
          </a:p>
          <a:p>
            <a:pPr>
              <a:buFont typeface=""/>
              <a:buChar char="•"/>
            </a:pPr>
            <a:r>
              <a:rPr lang="en-US">
                <a:latin typeface="Aptos Display"/>
              </a:rPr>
              <a:t>Matplotlib </a:t>
            </a:r>
          </a:p>
          <a:p>
            <a:pPr>
              <a:buFont typeface=""/>
              <a:buChar char="•"/>
            </a:pPr>
            <a:r>
              <a:rPr lang="en-US">
                <a:latin typeface="Aptos Display"/>
              </a:rPr>
              <a:t>Seaborn </a:t>
            </a:r>
          </a:p>
          <a:p>
            <a:endParaRPr lang="en-US" dirty="0">
              <a:latin typeface="Aptos Display"/>
            </a:endParaRPr>
          </a:p>
          <a:p>
            <a:r>
              <a:rPr lang="en-US" b="1">
                <a:latin typeface="Aptos Display"/>
              </a:rPr>
              <a:t>Development Environment</a:t>
            </a:r>
          </a:p>
          <a:p>
            <a:pPr>
              <a:buFont typeface=""/>
              <a:buChar char="•"/>
            </a:pPr>
            <a:r>
              <a:rPr lang="en-US">
                <a:latin typeface="Aptos Display"/>
              </a:rPr>
              <a:t>Visual Studio Code </a:t>
            </a:r>
          </a:p>
          <a:p>
            <a:pPr>
              <a:buFont typeface=""/>
              <a:buChar char="•"/>
            </a:pPr>
            <a:r>
              <a:rPr lang="en-US">
                <a:latin typeface="Aptos Display"/>
              </a:rPr>
              <a:t>Command Prompt </a:t>
            </a:r>
          </a:p>
          <a:p>
            <a:endParaRPr lang="en-US" dirty="0">
              <a:latin typeface="Aptos Display"/>
            </a:endParaRPr>
          </a:p>
          <a:p>
            <a:r>
              <a:rPr lang="en-US" b="1">
                <a:latin typeface="Aptos Display"/>
              </a:rPr>
              <a:t>Data Analysis Techniques</a:t>
            </a:r>
          </a:p>
          <a:p>
            <a:pPr>
              <a:buFont typeface=""/>
              <a:buChar char="•"/>
            </a:pPr>
            <a:r>
              <a:rPr lang="en-US">
                <a:latin typeface="Aptos Display"/>
              </a:rPr>
              <a:t>Data Cleaning </a:t>
            </a:r>
          </a:p>
          <a:p>
            <a:pPr>
              <a:buFont typeface=""/>
              <a:buChar char="•"/>
            </a:pPr>
            <a:r>
              <a:rPr lang="en-US">
                <a:latin typeface="Aptos Display"/>
              </a:rPr>
              <a:t>Exploratory Data Analysis </a:t>
            </a:r>
          </a:p>
          <a:p>
            <a:pPr>
              <a:buFont typeface=""/>
              <a:buChar char="•"/>
            </a:pPr>
            <a:r>
              <a:rPr lang="en-US">
                <a:latin typeface="Aptos Display"/>
              </a:rPr>
              <a:t>Statistical Analysis </a:t>
            </a:r>
          </a:p>
          <a:p>
            <a:pPr>
              <a:buFont typeface=""/>
              <a:buChar char="•"/>
            </a:pPr>
            <a:r>
              <a:rPr lang="en-US">
                <a:latin typeface="Aptos Display"/>
              </a:rPr>
              <a:t>Feature Engineering </a:t>
            </a:r>
          </a:p>
          <a:p>
            <a:pPr>
              <a:buFont typeface=""/>
              <a:buChar char="•"/>
            </a:pPr>
            <a:r>
              <a:rPr lang="en-US">
                <a:latin typeface="Aptos Display"/>
              </a:rPr>
              <a:t>Data Visualization </a:t>
            </a:r>
          </a:p>
          <a:p>
            <a:pPr>
              <a:buFont typeface=""/>
              <a:buChar char="•"/>
            </a:pPr>
            <a:r>
              <a:rPr lang="en-US">
                <a:latin typeface="Aptos Display"/>
              </a:rPr>
              <a:t>Correlation Analysis</a:t>
            </a:r>
          </a:p>
          <a:p>
            <a:pPr algn="ctr"/>
            <a:endParaRPr lang="en-US"/>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435875" y="2638"/>
            <a:ext cx="1551742" cy="639270"/>
          </a:xfrm>
        </p:spPr>
        <p:txBody>
          <a:bodyPr>
            <a:normAutofit fontScale="90000"/>
          </a:bodyPr>
          <a:lstStyle/>
          <a:p>
            <a:r>
              <a:rPr lang="en-GB" sz="2800" dirty="0"/>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ACD41122-1CDA-9629-0461-B4531A0C7CE9}"/>
              </a:ext>
            </a:extLst>
          </p:cNvPr>
          <p:cNvPicPr>
            <a:picLocks noChangeAspect="1"/>
          </p:cNvPicPr>
          <p:nvPr/>
        </p:nvPicPr>
        <p:blipFill>
          <a:blip r:embed="rId3"/>
          <a:stretch>
            <a:fillRect/>
          </a:stretch>
        </p:blipFill>
        <p:spPr>
          <a:xfrm>
            <a:off x="3678329" y="783291"/>
            <a:ext cx="8174693" cy="5784476"/>
          </a:xfrm>
          <a:prstGeom prst="rect">
            <a:avLst/>
          </a:prstGeom>
        </p:spPr>
      </p:pic>
      <p:sp>
        <p:nvSpPr>
          <p:cNvPr id="13" name="TextBox 12">
            <a:extLst>
              <a:ext uri="{FF2B5EF4-FFF2-40B4-BE49-F238E27FC236}">
                <a16:creationId xmlns:a16="http://schemas.microsoft.com/office/drawing/2014/main" id="{BE94584E-4713-5A70-0230-D04769A0B899}"/>
              </a:ext>
            </a:extLst>
          </p:cNvPr>
          <p:cNvSpPr txBox="1"/>
          <p:nvPr/>
        </p:nvSpPr>
        <p:spPr>
          <a:xfrm>
            <a:off x="191790" y="1473045"/>
            <a:ext cx="360721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Aptos Display"/>
              </a:rPr>
              <a:t>Explanation:</a:t>
            </a:r>
            <a:endParaRPr lang="en-US" dirty="0">
              <a:latin typeface="Aptos Display"/>
            </a:endParaRPr>
          </a:p>
          <a:p>
            <a:endParaRPr lang="en-US" b="1" dirty="0">
              <a:latin typeface="Aptos Display"/>
            </a:endParaRPr>
          </a:p>
          <a:p>
            <a:r>
              <a:rPr lang="en-US" dirty="0">
                <a:latin typeface="Aptos Display"/>
              </a:rPr>
              <a:t>Kharif records the highest average agricultural yield, followed by Rabi and Zaid. This indicates that agricultural productivity varies across different seasons in the dataset.</a:t>
            </a:r>
            <a:endParaRPr lang="en-US">
              <a:latin typeface="Aptos Display"/>
            </a:endParaRP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A9787-8D16-DD6D-C351-9A955823F25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1A48C0F-CC07-136E-0444-71B45C09A32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B571E07-03AF-6468-8639-E1E286CB4349}"/>
              </a:ext>
            </a:extLst>
          </p:cNvPr>
          <p:cNvSpPr>
            <a:spLocks noGrp="1"/>
          </p:cNvSpPr>
          <p:nvPr>
            <p:ph type="title"/>
          </p:nvPr>
        </p:nvSpPr>
        <p:spPr>
          <a:xfrm>
            <a:off x="435875" y="2638"/>
            <a:ext cx="1551742" cy="639270"/>
          </a:xfrm>
        </p:spPr>
        <p:txBody>
          <a:bodyPr>
            <a:normAutofit fontScale="90000"/>
          </a:bodyPr>
          <a:lstStyle/>
          <a:p>
            <a:r>
              <a:rPr lang="en-GB" sz="2800" dirty="0"/>
              <a:t>RESULTS</a:t>
            </a:r>
            <a:r>
              <a:rPr lang="en-GB" dirty="0"/>
              <a:t> </a:t>
            </a:r>
            <a:endParaRPr lang="en-IN" dirty="0"/>
          </a:p>
        </p:txBody>
      </p:sp>
      <p:sp>
        <p:nvSpPr>
          <p:cNvPr id="7" name="Text Placeholder 30">
            <a:extLst>
              <a:ext uri="{FF2B5EF4-FFF2-40B4-BE49-F238E27FC236}">
                <a16:creationId xmlns:a16="http://schemas.microsoft.com/office/drawing/2014/main" id="{B2D2F861-42FD-C714-B4BE-C2BCFA38E3E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8F33111-0D67-E182-7348-020AF1BE292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extBox 12">
            <a:extLst>
              <a:ext uri="{FF2B5EF4-FFF2-40B4-BE49-F238E27FC236}">
                <a16:creationId xmlns:a16="http://schemas.microsoft.com/office/drawing/2014/main" id="{2E4EA6A7-C31D-A797-83D7-A93F24F0EFC4}"/>
              </a:ext>
            </a:extLst>
          </p:cNvPr>
          <p:cNvSpPr txBox="1"/>
          <p:nvPr/>
        </p:nvSpPr>
        <p:spPr>
          <a:xfrm>
            <a:off x="191790" y="1473045"/>
            <a:ext cx="360721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Aptos Display"/>
              </a:rPr>
              <a:t>Explanation:</a:t>
            </a:r>
            <a:endParaRPr lang="en-US">
              <a:latin typeface="Aptos Display"/>
            </a:endParaRPr>
          </a:p>
          <a:p>
            <a:endParaRPr lang="en-US" b="1" dirty="0">
              <a:latin typeface="Aptos Display"/>
            </a:endParaRPr>
          </a:p>
          <a:p>
            <a:r>
              <a:rPr lang="en-US" dirty="0">
                <a:latin typeface="Aptos Display"/>
                <a:ea typeface="+mn-lt"/>
                <a:cs typeface="+mn-lt"/>
              </a:rPr>
              <a:t>Kharif demonstrates the highest average profit, while Zaid records a negative average profit. This indicates significant differences in economic performance across agricultural seasons</a:t>
            </a:r>
            <a:r>
              <a:rPr lang="en-US" dirty="0">
                <a:ea typeface="+mn-lt"/>
                <a:cs typeface="+mn-lt"/>
              </a:rPr>
              <a:t>.</a:t>
            </a:r>
          </a:p>
        </p:txBody>
      </p:sp>
      <p:pic>
        <p:nvPicPr>
          <p:cNvPr id="2" name="Picture 1">
            <a:extLst>
              <a:ext uri="{FF2B5EF4-FFF2-40B4-BE49-F238E27FC236}">
                <a16:creationId xmlns:a16="http://schemas.microsoft.com/office/drawing/2014/main" id="{7DE72517-D19D-15D0-CC54-5533501190EF}"/>
              </a:ext>
            </a:extLst>
          </p:cNvPr>
          <p:cNvPicPr>
            <a:picLocks noChangeAspect="1"/>
          </p:cNvPicPr>
          <p:nvPr/>
        </p:nvPicPr>
        <p:blipFill>
          <a:blip r:embed="rId3"/>
          <a:stretch>
            <a:fillRect/>
          </a:stretch>
        </p:blipFill>
        <p:spPr>
          <a:xfrm>
            <a:off x="4349001" y="645739"/>
            <a:ext cx="7472084" cy="5925109"/>
          </a:xfrm>
          <a:prstGeom prst="rect">
            <a:avLst/>
          </a:prstGeom>
        </p:spPr>
      </p:pic>
    </p:spTree>
    <p:extLst>
      <p:ext uri="{BB962C8B-B14F-4D97-AF65-F5344CB8AC3E}">
        <p14:creationId xmlns:p14="http://schemas.microsoft.com/office/powerpoint/2010/main" val="4110723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0F369-0446-161D-B76D-88AB87C041B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97F2014-4555-81E0-5F80-E3B1CC70BD5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46FC79B-4437-BB4A-901F-EF4188A6A145}"/>
              </a:ext>
            </a:extLst>
          </p:cNvPr>
          <p:cNvSpPr>
            <a:spLocks noGrp="1"/>
          </p:cNvSpPr>
          <p:nvPr>
            <p:ph type="title"/>
          </p:nvPr>
        </p:nvSpPr>
        <p:spPr>
          <a:xfrm>
            <a:off x="435875" y="2638"/>
            <a:ext cx="1551742" cy="639270"/>
          </a:xfrm>
        </p:spPr>
        <p:txBody>
          <a:bodyPr>
            <a:normAutofit fontScale="90000"/>
          </a:bodyPr>
          <a:lstStyle/>
          <a:p>
            <a:r>
              <a:rPr lang="en-GB" sz="2800" dirty="0"/>
              <a:t>RESULTS</a:t>
            </a:r>
            <a:r>
              <a:rPr lang="en-GB" dirty="0"/>
              <a:t> </a:t>
            </a:r>
            <a:endParaRPr lang="en-IN" dirty="0"/>
          </a:p>
        </p:txBody>
      </p:sp>
      <p:sp>
        <p:nvSpPr>
          <p:cNvPr id="7" name="Text Placeholder 30">
            <a:extLst>
              <a:ext uri="{FF2B5EF4-FFF2-40B4-BE49-F238E27FC236}">
                <a16:creationId xmlns:a16="http://schemas.microsoft.com/office/drawing/2014/main" id="{6A296C88-3EC8-8636-EF6D-253728AFF08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A3F6B67-227F-F685-F82A-ECAD42C1471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extBox 12">
            <a:extLst>
              <a:ext uri="{FF2B5EF4-FFF2-40B4-BE49-F238E27FC236}">
                <a16:creationId xmlns:a16="http://schemas.microsoft.com/office/drawing/2014/main" id="{D3238618-DC86-3FC8-5891-7EFDBC7D269F}"/>
              </a:ext>
            </a:extLst>
          </p:cNvPr>
          <p:cNvSpPr txBox="1"/>
          <p:nvPr/>
        </p:nvSpPr>
        <p:spPr>
          <a:xfrm>
            <a:off x="191790" y="1473045"/>
            <a:ext cx="3607211"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Explanation:</a:t>
            </a:r>
            <a:endParaRPr lang="en-US" dirty="0"/>
          </a:p>
          <a:p>
            <a:endParaRPr lang="en-US" b="1" dirty="0"/>
          </a:p>
          <a:p>
            <a:r>
              <a:rPr lang="en-US" dirty="0">
                <a:ea typeface="+mn-lt"/>
                <a:cs typeface="+mn-lt"/>
              </a:rPr>
              <a:t>Sugarcane shows a substantially higher average yield than the other crops, while Pulses records the lowest average yield. This demonstrates significant differences in crop productivity within the dataset.</a:t>
            </a:r>
          </a:p>
        </p:txBody>
      </p:sp>
      <p:pic>
        <p:nvPicPr>
          <p:cNvPr id="3" name="Picture 2">
            <a:extLst>
              <a:ext uri="{FF2B5EF4-FFF2-40B4-BE49-F238E27FC236}">
                <a16:creationId xmlns:a16="http://schemas.microsoft.com/office/drawing/2014/main" id="{AFB307DE-4667-0747-B8C8-B23DF9F3DEA6}"/>
              </a:ext>
            </a:extLst>
          </p:cNvPr>
          <p:cNvPicPr>
            <a:picLocks noChangeAspect="1"/>
          </p:cNvPicPr>
          <p:nvPr/>
        </p:nvPicPr>
        <p:blipFill>
          <a:blip r:embed="rId3"/>
          <a:stretch>
            <a:fillRect/>
          </a:stretch>
        </p:blipFill>
        <p:spPr>
          <a:xfrm>
            <a:off x="4440611" y="420221"/>
            <a:ext cx="7479366" cy="6017558"/>
          </a:xfrm>
          <a:prstGeom prst="rect">
            <a:avLst/>
          </a:prstGeom>
        </p:spPr>
      </p:pic>
    </p:spTree>
    <p:extLst>
      <p:ext uri="{BB962C8B-B14F-4D97-AF65-F5344CB8AC3E}">
        <p14:creationId xmlns:p14="http://schemas.microsoft.com/office/powerpoint/2010/main" val="2173432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2536B-7E1E-6E5B-C9E8-4EF6D76E033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A10270B-4C7A-5B02-C5E9-8773B7D5234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5FF4B4C-658F-AE9D-43FD-743F66C2FD02}"/>
              </a:ext>
            </a:extLst>
          </p:cNvPr>
          <p:cNvSpPr>
            <a:spLocks noGrp="1"/>
          </p:cNvSpPr>
          <p:nvPr>
            <p:ph type="title"/>
          </p:nvPr>
        </p:nvSpPr>
        <p:spPr>
          <a:xfrm>
            <a:off x="435875" y="2638"/>
            <a:ext cx="1551742" cy="639270"/>
          </a:xfrm>
        </p:spPr>
        <p:txBody>
          <a:bodyPr>
            <a:normAutofit fontScale="90000"/>
          </a:bodyPr>
          <a:lstStyle/>
          <a:p>
            <a:r>
              <a:rPr lang="en-GB" sz="2800" dirty="0"/>
              <a:t>RESULTS</a:t>
            </a:r>
            <a:r>
              <a:rPr lang="en-GB" dirty="0"/>
              <a:t> </a:t>
            </a:r>
            <a:endParaRPr lang="en-IN" dirty="0"/>
          </a:p>
        </p:txBody>
      </p:sp>
      <p:sp>
        <p:nvSpPr>
          <p:cNvPr id="7" name="Text Placeholder 30">
            <a:extLst>
              <a:ext uri="{FF2B5EF4-FFF2-40B4-BE49-F238E27FC236}">
                <a16:creationId xmlns:a16="http://schemas.microsoft.com/office/drawing/2014/main" id="{A147F075-9B33-AF05-5078-E6F126EF289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A519B09-FDBA-A524-3FED-5A482F5A927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F7C23BA5-B21F-0F36-3F77-B80DDB1A36A8}"/>
              </a:ext>
            </a:extLst>
          </p:cNvPr>
          <p:cNvPicPr>
            <a:picLocks noChangeAspect="1"/>
          </p:cNvPicPr>
          <p:nvPr/>
        </p:nvPicPr>
        <p:blipFill>
          <a:blip r:embed="rId3"/>
          <a:stretch>
            <a:fillRect/>
          </a:stretch>
        </p:blipFill>
        <p:spPr>
          <a:xfrm>
            <a:off x="3678329" y="783291"/>
            <a:ext cx="8174693" cy="5784476"/>
          </a:xfrm>
          <a:prstGeom prst="rect">
            <a:avLst/>
          </a:prstGeom>
        </p:spPr>
      </p:pic>
      <p:sp>
        <p:nvSpPr>
          <p:cNvPr id="13" name="TextBox 12">
            <a:extLst>
              <a:ext uri="{FF2B5EF4-FFF2-40B4-BE49-F238E27FC236}">
                <a16:creationId xmlns:a16="http://schemas.microsoft.com/office/drawing/2014/main" id="{9D8DFA92-A0F0-C37E-1FAD-7EDC22CAD110}"/>
              </a:ext>
            </a:extLst>
          </p:cNvPr>
          <p:cNvSpPr txBox="1"/>
          <p:nvPr/>
        </p:nvSpPr>
        <p:spPr>
          <a:xfrm>
            <a:off x="191790" y="1473045"/>
            <a:ext cx="360721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Aptos Display"/>
              </a:rPr>
              <a:t>Explanation:</a:t>
            </a:r>
            <a:endParaRPr lang="en-US">
              <a:latin typeface="Aptos Display"/>
            </a:endParaRPr>
          </a:p>
          <a:p>
            <a:endParaRPr lang="en-US" b="1" dirty="0">
              <a:latin typeface="Aptos Display"/>
            </a:endParaRPr>
          </a:p>
          <a:p>
            <a:r>
              <a:rPr lang="en-US" b="1" dirty="0">
                <a:latin typeface="Aptos Display"/>
              </a:rPr>
              <a:t>Kharif records the highest average agricultural yield, followed by Rabi and Zaid. This indicates that agricultural productivity varies across different seasons in the dataset.</a:t>
            </a:r>
            <a:endParaRPr lang="en-US">
              <a:latin typeface="Aptos Display"/>
            </a:endParaRPr>
          </a:p>
        </p:txBody>
      </p:sp>
    </p:spTree>
    <p:extLst>
      <p:ext uri="{BB962C8B-B14F-4D97-AF65-F5344CB8AC3E}">
        <p14:creationId xmlns:p14="http://schemas.microsoft.com/office/powerpoint/2010/main" val="1459852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ADFBB-8589-3FBC-F3C0-692373E16CC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A35E47B-FE09-4F08-2024-1671CCEF61A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E7B3C89-701A-0094-EAA1-75E425565CF3}"/>
              </a:ext>
            </a:extLst>
          </p:cNvPr>
          <p:cNvSpPr>
            <a:spLocks noGrp="1"/>
          </p:cNvSpPr>
          <p:nvPr>
            <p:ph type="title"/>
          </p:nvPr>
        </p:nvSpPr>
        <p:spPr>
          <a:xfrm>
            <a:off x="435875" y="2638"/>
            <a:ext cx="1551742" cy="639270"/>
          </a:xfrm>
        </p:spPr>
        <p:txBody>
          <a:bodyPr>
            <a:normAutofit fontScale="90000"/>
          </a:bodyPr>
          <a:lstStyle/>
          <a:p>
            <a:r>
              <a:rPr lang="en-GB" sz="2800" dirty="0"/>
              <a:t>RESULTS</a:t>
            </a:r>
            <a:r>
              <a:rPr lang="en-GB" dirty="0"/>
              <a:t> </a:t>
            </a:r>
            <a:endParaRPr lang="en-IN" dirty="0"/>
          </a:p>
        </p:txBody>
      </p:sp>
      <p:sp>
        <p:nvSpPr>
          <p:cNvPr id="7" name="Text Placeholder 30">
            <a:extLst>
              <a:ext uri="{FF2B5EF4-FFF2-40B4-BE49-F238E27FC236}">
                <a16:creationId xmlns:a16="http://schemas.microsoft.com/office/drawing/2014/main" id="{4B3FEC19-550A-D674-3EFC-BFF861595E5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07F67DA-9C6F-1B9B-D7B5-03A406D90A7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extBox 12">
            <a:extLst>
              <a:ext uri="{FF2B5EF4-FFF2-40B4-BE49-F238E27FC236}">
                <a16:creationId xmlns:a16="http://schemas.microsoft.com/office/drawing/2014/main" id="{111DFB31-D3F3-5D66-AC21-E187144BE219}"/>
              </a:ext>
            </a:extLst>
          </p:cNvPr>
          <p:cNvSpPr txBox="1"/>
          <p:nvPr/>
        </p:nvSpPr>
        <p:spPr>
          <a:xfrm>
            <a:off x="191790" y="1473045"/>
            <a:ext cx="360721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Aptos Display"/>
              </a:rPr>
              <a:t>Explanation:</a:t>
            </a:r>
            <a:endParaRPr lang="en-US">
              <a:latin typeface="Aptos Display"/>
            </a:endParaRPr>
          </a:p>
          <a:p>
            <a:endParaRPr lang="en-US" b="1" dirty="0">
              <a:latin typeface="Aptos Display"/>
            </a:endParaRPr>
          </a:p>
          <a:p>
            <a:r>
              <a:rPr lang="en-US" dirty="0">
                <a:latin typeface="Aptos Display"/>
                <a:ea typeface="+mn-lt"/>
                <a:cs typeface="+mn-lt"/>
              </a:rPr>
              <a:t>Rainfed and Drip irrigation show higher average water-use efficiency than Sprinkler and Flood methods in this dataset. This highlights differences in resource efficiency across irrigation practices.</a:t>
            </a:r>
          </a:p>
        </p:txBody>
      </p:sp>
      <p:pic>
        <p:nvPicPr>
          <p:cNvPr id="3" name="Picture 2">
            <a:extLst>
              <a:ext uri="{FF2B5EF4-FFF2-40B4-BE49-F238E27FC236}">
                <a16:creationId xmlns:a16="http://schemas.microsoft.com/office/drawing/2014/main" id="{876D35CB-91BA-65EF-1253-E2DBDA235893}"/>
              </a:ext>
            </a:extLst>
          </p:cNvPr>
          <p:cNvPicPr>
            <a:picLocks noChangeAspect="1"/>
          </p:cNvPicPr>
          <p:nvPr/>
        </p:nvPicPr>
        <p:blipFill>
          <a:blip r:embed="rId3"/>
          <a:stretch>
            <a:fillRect/>
          </a:stretch>
        </p:blipFill>
        <p:spPr>
          <a:xfrm>
            <a:off x="3807758" y="636494"/>
            <a:ext cx="8095130" cy="5562600"/>
          </a:xfrm>
          <a:prstGeom prst="rect">
            <a:avLst/>
          </a:prstGeom>
        </p:spPr>
      </p:pic>
    </p:spTree>
    <p:extLst>
      <p:ext uri="{BB962C8B-B14F-4D97-AF65-F5344CB8AC3E}">
        <p14:creationId xmlns:p14="http://schemas.microsoft.com/office/powerpoint/2010/main" val="801239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1C42D-C405-08E8-51EB-1E69EF4EC4E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9AC353B-1423-3261-9C11-C2C0740E773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9F6A9CC-EEE2-3276-4D33-8E8982B31D72}"/>
              </a:ext>
            </a:extLst>
          </p:cNvPr>
          <p:cNvSpPr>
            <a:spLocks noGrp="1"/>
          </p:cNvSpPr>
          <p:nvPr>
            <p:ph type="title"/>
          </p:nvPr>
        </p:nvSpPr>
        <p:spPr>
          <a:xfrm>
            <a:off x="435875" y="2638"/>
            <a:ext cx="1551742" cy="639270"/>
          </a:xfrm>
        </p:spPr>
        <p:txBody>
          <a:bodyPr>
            <a:normAutofit fontScale="90000"/>
          </a:bodyPr>
          <a:lstStyle/>
          <a:p>
            <a:r>
              <a:rPr lang="en-GB" sz="2800" dirty="0"/>
              <a:t>RESULTS</a:t>
            </a:r>
            <a:r>
              <a:rPr lang="en-GB" dirty="0"/>
              <a:t> </a:t>
            </a:r>
            <a:endParaRPr lang="en-IN" dirty="0"/>
          </a:p>
        </p:txBody>
      </p:sp>
      <p:sp>
        <p:nvSpPr>
          <p:cNvPr id="7" name="Text Placeholder 30">
            <a:extLst>
              <a:ext uri="{FF2B5EF4-FFF2-40B4-BE49-F238E27FC236}">
                <a16:creationId xmlns:a16="http://schemas.microsoft.com/office/drawing/2014/main" id="{6D229BA6-1E81-7441-773B-7E93A629CB0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FCEFD9A-7F65-5C9B-0490-CF19B405487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3" name="TextBox 12">
            <a:extLst>
              <a:ext uri="{FF2B5EF4-FFF2-40B4-BE49-F238E27FC236}">
                <a16:creationId xmlns:a16="http://schemas.microsoft.com/office/drawing/2014/main" id="{EE6A2E2F-59B4-8EFE-BFEF-4A2812C2DBD4}"/>
              </a:ext>
            </a:extLst>
          </p:cNvPr>
          <p:cNvSpPr txBox="1"/>
          <p:nvPr/>
        </p:nvSpPr>
        <p:spPr>
          <a:xfrm>
            <a:off x="191790" y="1473045"/>
            <a:ext cx="360721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Aptos Display"/>
              </a:rPr>
              <a:t>Explanation:</a:t>
            </a:r>
            <a:endParaRPr lang="en-US">
              <a:latin typeface="Aptos Display"/>
            </a:endParaRPr>
          </a:p>
          <a:p>
            <a:endParaRPr lang="en-US" b="1" dirty="0">
              <a:latin typeface="Aptos Display"/>
            </a:endParaRPr>
          </a:p>
          <a:p>
            <a:r>
              <a:rPr lang="en-US" dirty="0">
                <a:latin typeface="Aptos Display"/>
                <a:ea typeface="+mn-lt"/>
                <a:cs typeface="+mn-lt"/>
              </a:rPr>
              <a:t>Rainfall shows a very weak linear relationship with agricultural yield in the dataset. This suggests that rainfall alone does not strongly explain yield variation and that other agricultural, environmental and management factors should also be considered.</a:t>
            </a:r>
          </a:p>
        </p:txBody>
      </p:sp>
      <p:pic>
        <p:nvPicPr>
          <p:cNvPr id="2" name="Picture 1">
            <a:extLst>
              <a:ext uri="{FF2B5EF4-FFF2-40B4-BE49-F238E27FC236}">
                <a16:creationId xmlns:a16="http://schemas.microsoft.com/office/drawing/2014/main" id="{4984F367-747F-635A-99E7-B83A0515807F}"/>
              </a:ext>
            </a:extLst>
          </p:cNvPr>
          <p:cNvPicPr>
            <a:picLocks noChangeAspect="1"/>
          </p:cNvPicPr>
          <p:nvPr/>
        </p:nvPicPr>
        <p:blipFill>
          <a:blip r:embed="rId3"/>
          <a:stretch>
            <a:fillRect/>
          </a:stretch>
        </p:blipFill>
        <p:spPr>
          <a:xfrm>
            <a:off x="3919817" y="322729"/>
            <a:ext cx="7938248" cy="6145305"/>
          </a:xfrm>
          <a:prstGeom prst="rect">
            <a:avLst/>
          </a:prstGeom>
        </p:spPr>
      </p:pic>
    </p:spTree>
    <p:extLst>
      <p:ext uri="{BB962C8B-B14F-4D97-AF65-F5344CB8AC3E}">
        <p14:creationId xmlns:p14="http://schemas.microsoft.com/office/powerpoint/2010/main" val="1756064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321053" y="214014"/>
            <a:ext cx="2512429" cy="476093"/>
          </a:xfrm>
        </p:spPr>
        <p:txBody>
          <a:bodyPr>
            <a:normAutofit fontScale="90000"/>
          </a:bodyPr>
          <a:lstStyle/>
          <a:p>
            <a:r>
              <a:rPr lang="en-IN" sz="28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DFB6BFD-686A-C1A3-17F7-A4F59BB6BB24}"/>
              </a:ext>
            </a:extLst>
          </p:cNvPr>
          <p:cNvSpPr txBox="1"/>
          <p:nvPr/>
        </p:nvSpPr>
        <p:spPr>
          <a:xfrm>
            <a:off x="323588" y="777658"/>
            <a:ext cx="11534383"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Aptos Display"/>
              </a:rPr>
              <a:t>1. Advanced Statistical Analysis</a:t>
            </a:r>
          </a:p>
          <a:p>
            <a:r>
              <a:rPr lang="en-US" dirty="0">
                <a:latin typeface="Aptos Display"/>
              </a:rPr>
              <a:t>Perform hypothesis testing and regression analysis to investigate agricultural relationships in greater depth.</a:t>
            </a:r>
          </a:p>
          <a:p>
            <a:endParaRPr lang="en-US" dirty="0">
              <a:latin typeface="Aptos Display"/>
            </a:endParaRPr>
          </a:p>
          <a:p>
            <a:r>
              <a:rPr lang="en-US" b="1" dirty="0">
                <a:latin typeface="Aptos Display"/>
              </a:rPr>
              <a:t>2. Regional Analysis</a:t>
            </a:r>
          </a:p>
          <a:p>
            <a:r>
              <a:rPr lang="en-US" dirty="0">
                <a:latin typeface="Aptos Display"/>
              </a:rPr>
              <a:t>Compare agricultural performance across different states and districts.</a:t>
            </a:r>
          </a:p>
          <a:p>
            <a:endParaRPr lang="en-US" dirty="0">
              <a:latin typeface="Aptos Display"/>
            </a:endParaRPr>
          </a:p>
          <a:p>
            <a:r>
              <a:rPr lang="en-US" b="1" dirty="0">
                <a:latin typeface="Aptos Display"/>
              </a:rPr>
              <a:t>3. Crop-Specific Analysis</a:t>
            </a:r>
          </a:p>
          <a:p>
            <a:r>
              <a:rPr lang="en-US" dirty="0">
                <a:latin typeface="Aptos Display"/>
              </a:rPr>
              <a:t>Study individual crop performance across seasons and regions.</a:t>
            </a:r>
          </a:p>
          <a:p>
            <a:endParaRPr lang="en-US" dirty="0">
              <a:latin typeface="Aptos Display"/>
            </a:endParaRPr>
          </a:p>
          <a:p>
            <a:r>
              <a:rPr lang="en-US" b="1" dirty="0">
                <a:latin typeface="Aptos Display"/>
              </a:rPr>
              <a:t>4. Predictive Analytics</a:t>
            </a:r>
          </a:p>
          <a:p>
            <a:r>
              <a:rPr lang="en-US" dirty="0">
                <a:latin typeface="Aptos Display"/>
              </a:rPr>
              <a:t>Future versions could use machine learning to predict crop yield and profitability.</a:t>
            </a:r>
          </a:p>
          <a:p>
            <a:endParaRPr lang="en-US" dirty="0">
              <a:latin typeface="Aptos Display"/>
            </a:endParaRPr>
          </a:p>
          <a:p>
            <a:r>
              <a:rPr lang="en-US" b="1" dirty="0">
                <a:latin typeface="Aptos Display"/>
              </a:rPr>
              <a:t>5. Weather Integration</a:t>
            </a:r>
          </a:p>
          <a:p>
            <a:r>
              <a:rPr lang="en-US" dirty="0">
                <a:latin typeface="Aptos Display"/>
              </a:rPr>
              <a:t>Additional weather data such as temperature, rainfall patterns and extreme weather events could be incorporated.</a:t>
            </a:r>
          </a:p>
          <a:p>
            <a:endParaRPr lang="en-US" dirty="0">
              <a:latin typeface="Aptos Display"/>
            </a:endParaRPr>
          </a:p>
          <a:p>
            <a:r>
              <a:rPr lang="en-US" b="1" dirty="0">
                <a:latin typeface="Aptos Display"/>
              </a:rPr>
              <a:t>6. Resource Optimization</a:t>
            </a:r>
          </a:p>
          <a:p>
            <a:r>
              <a:rPr lang="en-US" dirty="0">
                <a:latin typeface="Aptos Display"/>
              </a:rPr>
              <a:t>Further analysis can focus on optimizing water, fertilizer and pesticide usage.</a:t>
            </a:r>
          </a:p>
          <a:p>
            <a:endParaRPr lang="en-US" dirty="0">
              <a:latin typeface="Aptos Display"/>
            </a:endParaRPr>
          </a:p>
          <a:p>
            <a:r>
              <a:rPr lang="en-US" b="1" dirty="0">
                <a:latin typeface="Aptos Display"/>
              </a:rPr>
              <a:t>7. Interactive Dashboard</a:t>
            </a:r>
          </a:p>
          <a:p>
            <a:r>
              <a:rPr lang="en-US" dirty="0">
                <a:latin typeface="Aptos Display"/>
              </a:rPr>
              <a:t>The analysis could later be transformed into an interactive Power BI or Tableau dashboard.</a:t>
            </a:r>
          </a:p>
          <a:p>
            <a:endParaRPr lang="en-US" dirty="0">
              <a:latin typeface="Aptos Display"/>
            </a:endParaRPr>
          </a:p>
          <a:p>
            <a:endParaRPr lang="en-US" dirty="0">
              <a:latin typeface="Aptos Display"/>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84A22F6-D505-DB99-B428-F68D6CEE6A1B}"/>
              </a:ext>
            </a:extLst>
          </p:cNvPr>
          <p:cNvSpPr txBox="1"/>
          <p:nvPr/>
        </p:nvSpPr>
        <p:spPr>
          <a:xfrm>
            <a:off x="542794" y="1195192"/>
            <a:ext cx="825673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https://github.com/mdashwaq0557-cmd/seasonal-agriculture-performance-analysis-project.git</a:t>
            </a:r>
          </a:p>
          <a:p>
            <a:pPr algn="ctr"/>
            <a:endParaRPr lang="en-US"/>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154039" y="193137"/>
            <a:ext cx="11305442" cy="905534"/>
          </a:xfrm>
        </p:spPr>
        <p:txBody>
          <a:bodyPr vert="horz" lIns="91440" tIns="45720" rIns="91440" bIns="45720" rtlCol="0" anchor="t">
            <a:noAutofit/>
          </a:bodyPr>
          <a:lstStyle/>
          <a:p>
            <a:r>
              <a:rPr lang="en-IN" sz="2400" dirty="0"/>
              <a:t>VOIS Course completion certificate - 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D8301790-1E66-9E04-449B-B9B1336F04AF}"/>
              </a:ext>
            </a:extLst>
          </p:cNvPr>
          <p:cNvPicPr>
            <a:picLocks noChangeAspect="1"/>
          </p:cNvPicPr>
          <p:nvPr/>
        </p:nvPicPr>
        <p:blipFill>
          <a:blip r:embed="rId3"/>
          <a:stretch>
            <a:fillRect/>
          </a:stretch>
        </p:blipFill>
        <p:spPr>
          <a:xfrm>
            <a:off x="518774" y="887260"/>
            <a:ext cx="11102260" cy="543838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027" y="2724933"/>
            <a:ext cx="11340000" cy="700114"/>
          </a:xfrm>
          <a:prstGeom prst="rect">
            <a:avLst/>
          </a:prstGeom>
        </p:spPr>
        <p:txBody>
          <a:bodyPr anchor="ctr">
            <a:noAutofit/>
          </a:bodyPr>
          <a:lstStyle/>
          <a:p>
            <a:pPr algn="ctr"/>
            <a:r>
              <a:rPr lang="en-US" sz="965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552</TotalTime>
  <Words>62</Words>
  <Application>Microsoft Office PowerPoint</Application>
  <PresentationFormat>Widescreen</PresentationFormat>
  <Paragraphs>17</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Facet</vt:lpstr>
      <vt:lpstr>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466</cp:revision>
  <dcterms:created xsi:type="dcterms:W3CDTF">2021-07-11T13:13:15Z</dcterms:created>
  <dcterms:modified xsi:type="dcterms:W3CDTF">2026-09-06T07:25:54Z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